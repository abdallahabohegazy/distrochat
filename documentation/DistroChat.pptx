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B2C45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62840"/>
          </a:solidFill>
          <a:ln/>
        </p:spPr>
      </p:sp>
      <p:sp>
        <p:nvSpPr>
          <p:cNvPr id="5" name="Shape 3"/>
          <p:cNvSpPr/>
          <p:nvPr/>
        </p:nvSpPr>
        <p:spPr>
          <a:xfrm>
            <a:off x="7223760" y="320040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52044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0" y="384048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416052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9" name="Shape 7"/>
          <p:cNvSpPr/>
          <p:nvPr/>
        </p:nvSpPr>
        <p:spPr>
          <a:xfrm>
            <a:off x="7543800" y="320040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10" name="Shape 8"/>
          <p:cNvSpPr/>
          <p:nvPr/>
        </p:nvSpPr>
        <p:spPr>
          <a:xfrm>
            <a:off x="7543800" y="352044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11" name="Shape 9"/>
          <p:cNvSpPr/>
          <p:nvPr/>
        </p:nvSpPr>
        <p:spPr>
          <a:xfrm>
            <a:off x="7543800" y="384048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12" name="Shape 10"/>
          <p:cNvSpPr/>
          <p:nvPr/>
        </p:nvSpPr>
        <p:spPr>
          <a:xfrm>
            <a:off x="7543800" y="416052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320040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352044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384048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0" y="416052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320040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18" name="Shape 16"/>
          <p:cNvSpPr/>
          <p:nvPr/>
        </p:nvSpPr>
        <p:spPr>
          <a:xfrm>
            <a:off x="8183880" y="352044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83880" y="384048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83880" y="416052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320040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52044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384048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160520"/>
            <a:ext cx="64008" cy="64008"/>
          </a:xfrm>
          <a:prstGeom prst="ellipse">
            <a:avLst/>
          </a:prstGeom>
          <a:solidFill>
            <a:srgbClr val="1E406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 •  COURSE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DistroChat</a:t>
            </a:r>
            <a:endParaRPr lang="en-US" sz="6200" dirty="0"/>
          </a:p>
        </p:txBody>
      </p:sp>
      <p:sp>
        <p:nvSpPr>
          <p:cNvPr id="27" name="Text 25"/>
          <p:cNvSpPr/>
          <p:nvPr/>
        </p:nvSpPr>
        <p:spPr>
          <a:xfrm>
            <a:off x="274320" y="1920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Distributed Multi-Client Chat System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74320" y="2487168"/>
            <a:ext cx="4114800" cy="36576"/>
          </a:xfrm>
          <a:prstGeom prst="rect">
            <a:avLst/>
          </a:prstGeom>
          <a:solidFill>
            <a:srgbClr val="1E3F5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2999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Yossef Ayman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192200339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33467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Ghanem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192200345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36941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Abdallah Hegazi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192200322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2999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Rehabeldein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192200340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49040" y="33467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Zarref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192200278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5176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35608"/>
            <a:ext cx="694944" cy="69494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5608"/>
            <a:ext cx="694944" cy="6949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230428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" y="274320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Distributed systems are the backbone of modern applications like WhatsApp, Discord, and Slack — handling millions of concurrent users.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97280"/>
            <a:ext cx="2651760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Shape 10"/>
          <p:cNvSpPr/>
          <p:nvPr/>
        </p:nvSpPr>
        <p:spPr>
          <a:xfrm>
            <a:off x="3447288" y="1435608"/>
            <a:ext cx="694944" cy="694944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435608"/>
            <a:ext cx="694944" cy="6949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0128" y="230428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10128" y="274320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These systems must deliver real-time communication with near-zero latency, even under heavy load and network disruptions.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80760" y="109728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097280"/>
            <a:ext cx="265176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5"/>
          <p:cNvSpPr/>
          <p:nvPr/>
        </p:nvSpPr>
        <p:spPr>
          <a:xfrm>
            <a:off x="6327648" y="1435608"/>
            <a:ext cx="694944" cy="69494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35608"/>
            <a:ext cx="694944" cy="6949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0488" y="230428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90488" y="274320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Users demand strong privacy guarantees — encryption, authentication, and data integrity are non-negotiable requirements.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45902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built DistroChat to simulate real-world distributed systems — balancing performance, scalability, and security."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91440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645920"/>
            <a:ext cx="585216" cy="585216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18488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2801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Clients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17320" y="1645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Handling multiple simultaneous connections without delays, crashes, or resource contention under real-world load.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115568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115568"/>
            <a:ext cx="91440" cy="1691640"/>
          </a:xfrm>
          <a:prstGeom prst="rect">
            <a:avLst/>
          </a:prstGeom>
          <a:solidFill>
            <a:srgbClr val="E05C1C"/>
          </a:solidFill>
          <a:ln/>
        </p:spPr>
      </p:sp>
      <p:sp>
        <p:nvSpPr>
          <p:cNvPr id="13" name="Shape 10"/>
          <p:cNvSpPr/>
          <p:nvPr/>
        </p:nvSpPr>
        <p:spPr>
          <a:xfrm>
            <a:off x="5102352" y="1645920"/>
            <a:ext cx="585216" cy="585216"/>
          </a:xfrm>
          <a:prstGeom prst="ellipse">
            <a:avLst/>
          </a:prstGeom>
          <a:solidFill>
            <a:srgbClr val="E05C1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618488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52160" y="12801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852160" y="1645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Maintaining sub-millisecond communication between distributed nodes to preserve a real-time user experience.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3035808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035808"/>
            <a:ext cx="91440" cy="1691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Shape 15"/>
          <p:cNvSpPr/>
          <p:nvPr/>
        </p:nvSpPr>
        <p:spPr>
          <a:xfrm>
            <a:off x="667512" y="3566160"/>
            <a:ext cx="585216" cy="585216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38728"/>
            <a:ext cx="585216" cy="5852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417320" y="35661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Protecting user credentials and messages from interception, unauthorized access, and tampering.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3035808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3035808"/>
            <a:ext cx="91440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5102352" y="3566160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538728"/>
            <a:ext cx="585216" cy="58521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52160" y="3200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852160" y="35661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Ensuring transactional integrity across threads and concurrent operations without race conditions or corruption.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91440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188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Client-Server Architecture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34840" y="118872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Scalable server-client model with TCP socket connections. Designed to operate on both LAN and WAN environments.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207008"/>
            <a:ext cx="36576" cy="621792"/>
          </a:xfrm>
          <a:prstGeom prst="rect">
            <a:avLst/>
          </a:prstGeom>
          <a:solidFill>
            <a:srgbClr val="E2EE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01168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11680"/>
            <a:ext cx="91440" cy="80467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176272"/>
            <a:ext cx="457200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Concurrent Server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34840" y="208483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client runs in a dedicated thread, enabling parallel request processing without blocking or delays.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2103120"/>
            <a:ext cx="36576" cy="621792"/>
          </a:xfrm>
          <a:prstGeom prst="rect">
            <a:avLst/>
          </a:prstGeom>
          <a:solidFill>
            <a:srgbClr val="E2EE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907792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07792"/>
            <a:ext cx="91440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072384"/>
            <a:ext cx="457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29809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JSON Communication Protocol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34840" y="298094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Length-prefixed JSON messages ensure reliable, structured, and flexible data exchange between nodes.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2999232"/>
            <a:ext cx="36576" cy="621792"/>
          </a:xfrm>
          <a:prstGeom prst="rect">
            <a:avLst/>
          </a:prstGeom>
          <a:solidFill>
            <a:srgbClr val="E2EEF5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803904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803904"/>
            <a:ext cx="91440" cy="804672"/>
          </a:xfrm>
          <a:prstGeom prst="rect">
            <a:avLst/>
          </a:prstGeom>
          <a:solidFill>
            <a:srgbClr val="E05C1C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968496"/>
            <a:ext cx="457200" cy="457200"/>
          </a:xfrm>
          <a:prstGeom prst="rect">
            <a:avLst/>
          </a:prstGeom>
          <a:solidFill>
            <a:srgbClr val="E05C1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68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3877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Security &amp; Authentication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434840" y="387705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AES encryption for messages, Bcrypt password hashing, and SHA-256 file integrity checks protect all data.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3895344"/>
            <a:ext cx="36576" cy="621792"/>
          </a:xfrm>
          <a:prstGeom prst="rect">
            <a:avLst/>
          </a:prstGeom>
          <a:solidFill>
            <a:srgbClr val="E2EEF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122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29000" y="2103120"/>
            <a:ext cx="2286000" cy="10515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210312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SERVER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9000" y="3246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 Message Router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TCP Socket Coordinator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1737360" cy="685800"/>
          </a:xfrm>
          <a:prstGeom prst="rect">
            <a:avLst/>
          </a:prstGeom>
          <a:solidFill>
            <a:srgbClr val="1B2C4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2402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291840"/>
            <a:ext cx="1737360" cy="685800"/>
          </a:xfrm>
          <a:prstGeom prst="rect">
            <a:avLst/>
          </a:prstGeom>
          <a:solidFill>
            <a:srgbClr val="1B2C4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918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240280"/>
            <a:ext cx="1737360" cy="685800"/>
          </a:xfrm>
          <a:prstGeom prst="rect">
            <a:avLst/>
          </a:prstGeom>
          <a:solidFill>
            <a:srgbClr val="1B2C4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402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291840"/>
            <a:ext cx="1737360" cy="685800"/>
          </a:xfrm>
          <a:prstGeom prst="rect">
            <a:avLst/>
          </a:prstGeom>
          <a:solidFill>
            <a:srgbClr val="1B2C4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2918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2578608"/>
            <a:ext cx="1417320" cy="164592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011680" y="3630168"/>
            <a:ext cx="1417320" cy="-128016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715000" y="2578608"/>
            <a:ext cx="868680" cy="164592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715000" y="3630168"/>
            <a:ext cx="868680" cy="-128016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749040" y="1051560"/>
            <a:ext cx="1645920" cy="658368"/>
          </a:xfrm>
          <a:prstGeom prst="rect">
            <a:avLst/>
          </a:prstGeom>
          <a:solidFill>
            <a:srgbClr val="1628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05156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709928"/>
            <a:ext cx="0" cy="393192"/>
          </a:xfrm>
          <a:prstGeom prst="line">
            <a:avLst/>
          </a:prstGeom>
          <a:noFill/>
          <a:ln w="12700">
            <a:solidFill>
              <a:srgbClr val="00D4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434840"/>
            <a:ext cx="1920240" cy="384048"/>
          </a:xfrm>
          <a:prstGeom prst="rect">
            <a:avLst/>
          </a:prstGeom>
          <a:solidFill>
            <a:srgbClr val="16284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434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23160" y="4434840"/>
            <a:ext cx="1920240" cy="384048"/>
          </a:xfrm>
          <a:prstGeom prst="rect">
            <a:avLst/>
          </a:prstGeom>
          <a:solidFill>
            <a:srgbClr val="16284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4434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4434840"/>
            <a:ext cx="1920240" cy="384048"/>
          </a:xfrm>
          <a:prstGeom prst="rect">
            <a:avLst/>
          </a:prstGeom>
          <a:solidFill>
            <a:srgbClr val="16284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434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Protocol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20840" y="4434840"/>
            <a:ext cx="1920240" cy="384048"/>
          </a:xfrm>
          <a:prstGeom prst="rect">
            <a:avLst/>
          </a:prstGeom>
          <a:solidFill>
            <a:srgbClr val="162840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4434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 &amp; Concurrency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33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Threads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connected client receives a dedicated OS thread for isolated processing.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93392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29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225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Requests are handled simultaneously — no client waits while another is served.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889504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89504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I/O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186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Eliminates blocking: server remains fully responsive under heavy concurrent load.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85616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85616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221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 resources (DB, room lists) are protected with synchronization primitives.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1097280"/>
            <a:ext cx="31546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097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1828800"/>
            <a:ext cx="2743200" cy="530352"/>
          </a:xfrm>
          <a:prstGeom prst="rect">
            <a:avLst/>
          </a:prstGeom>
          <a:solidFill>
            <a:srgbClr val="1B2C4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18288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— Client 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23760" y="1600200"/>
            <a:ext cx="0" cy="228600"/>
          </a:xfrm>
          <a:prstGeom prst="line">
            <a:avLst/>
          </a:prstGeom>
          <a:noFill/>
          <a:ln w="10160">
            <a:solidFill>
              <a:srgbClr val="00D4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2514600"/>
            <a:ext cx="2743200" cy="530352"/>
          </a:xfrm>
          <a:prstGeom prst="rect">
            <a:avLst/>
          </a:prstGeom>
          <a:solidFill>
            <a:srgbClr val="1B2C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25146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— Client B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23760" y="1600200"/>
            <a:ext cx="0" cy="91440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3200400"/>
            <a:ext cx="2743200" cy="530352"/>
          </a:xfrm>
          <a:prstGeom prst="rect">
            <a:avLst/>
          </a:prstGeom>
          <a:solidFill>
            <a:srgbClr val="1B2C45"/>
          </a:solidFill>
          <a:ln w="12700">
            <a:solidFill>
              <a:srgbClr val="E05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32004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— Client 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23760" y="1600200"/>
            <a:ext cx="0" cy="1600200"/>
          </a:xfrm>
          <a:prstGeom prst="line">
            <a:avLst/>
          </a:prstGeom>
          <a:noFill/>
          <a:ln w="10160">
            <a:solidFill>
              <a:srgbClr val="E05C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3886200"/>
            <a:ext cx="2743200" cy="530352"/>
          </a:xfrm>
          <a:prstGeom prst="rect">
            <a:avLst/>
          </a:prstGeom>
          <a:solidFill>
            <a:srgbClr val="1B2C4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38862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— Client 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223760" y="1600200"/>
            <a:ext cx="0" cy="2286000"/>
          </a:xfrm>
          <a:prstGeom prst="line">
            <a:avLst/>
          </a:prstGeom>
          <a:noFill/>
          <a:ln w="10160">
            <a:solidFill>
              <a:srgbClr val="9B59B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6118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DESIGN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JSON — human-readable &amp; flexible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Length-prefix to prevent fragmentation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TCP — reliable, ordered delivery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UTF-8 with AES encryption layer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374904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931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"msg", "room": "general",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"Hello!", "ts": 1714000000 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1170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600200"/>
            <a:ext cx="1874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600200"/>
            <a:ext cx="187452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5362956" y="1892808"/>
            <a:ext cx="658368" cy="65836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2956" y="1892808"/>
            <a:ext cx="658368" cy="6583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846320" y="26060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Messaging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858000" y="1600200"/>
            <a:ext cx="1874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58000" y="1600200"/>
            <a:ext cx="187452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Shape 22"/>
          <p:cNvSpPr/>
          <p:nvPr/>
        </p:nvSpPr>
        <p:spPr>
          <a:xfrm>
            <a:off x="7466076" y="1892808"/>
            <a:ext cx="658368" cy="658368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1892808"/>
            <a:ext cx="658368" cy="6583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49440" y="26060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754880" y="3200400"/>
            <a:ext cx="1874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754880" y="3200400"/>
            <a:ext cx="18745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6"/>
          <p:cNvSpPr/>
          <p:nvPr/>
        </p:nvSpPr>
        <p:spPr>
          <a:xfrm>
            <a:off x="5362956" y="34930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956" y="3493008"/>
            <a:ext cx="658368" cy="6583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846320" y="42062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858000" y="3200400"/>
            <a:ext cx="1874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858000" y="3200400"/>
            <a:ext cx="1874520" cy="7315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5" name="Shape 30"/>
          <p:cNvSpPr/>
          <p:nvPr/>
        </p:nvSpPr>
        <p:spPr>
          <a:xfrm>
            <a:off x="7466076" y="3493008"/>
            <a:ext cx="658368" cy="658368"/>
          </a:xfrm>
          <a:prstGeom prst="ellipse">
            <a:avLst/>
          </a:prstGeom>
          <a:solidFill>
            <a:srgbClr val="9B59B6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3493008"/>
            <a:ext cx="658368" cy="65836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949440" y="42062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122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Encryption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1371600"/>
            <a:ext cx="2194560" cy="219456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11880" y="1508760"/>
            <a:ext cx="1920240" cy="1920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9202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926080" cy="1188720"/>
          </a:xfrm>
          <a:prstGeom prst="rect">
            <a:avLst/>
          </a:prstGeom>
          <a:solidFill>
            <a:srgbClr val="1B2C45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508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Messages are encrypted before transmission — unreadable without the key.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2926080" cy="1188720"/>
          </a:xfrm>
          <a:prstGeom prst="rect">
            <a:avLst/>
          </a:prstGeom>
          <a:solidFill>
            <a:srgbClr val="1B2C45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In-transit Protection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291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Even if packets are intercepted, content remains secure.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1417320"/>
            <a:ext cx="2926080" cy="1188720"/>
          </a:xfrm>
          <a:prstGeom prst="rect">
            <a:avLst/>
          </a:prstGeom>
          <a:solidFill>
            <a:srgbClr val="1B2C45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508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Key Crypto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 secret key used for both encryption and decryption — fast and efficient.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2834640"/>
            <a:ext cx="2926080" cy="1188720"/>
          </a:xfrm>
          <a:prstGeom prst="rect">
            <a:avLst/>
          </a:prstGeom>
          <a:solidFill>
            <a:srgbClr val="1B2C45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3291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Encrypt → Transmit → Decrypt. No plaintext ever travels on the wire.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468880"/>
            <a:ext cx="-64008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291840"/>
            <a:ext cx="-64008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468880"/>
            <a:ext cx="64008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3291840"/>
            <a:ext cx="64008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4572000"/>
            <a:ext cx="4572000" cy="347472"/>
          </a:xfrm>
          <a:prstGeom prst="rect">
            <a:avLst/>
          </a:prstGeom>
          <a:solidFill>
            <a:srgbClr val="0E2A3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459028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is a NIST-approved symmetric encryption standard — used globally in banking, healthcare, and communications.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468880" cy="11887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Password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Plain text input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1783080"/>
            <a:ext cx="365760" cy="0"/>
          </a:xfrm>
          <a:prstGeom prst="line">
            <a:avLst/>
          </a:prstGeom>
          <a:noFill/>
          <a:ln w="25400">
            <a:solidFill>
              <a:srgbClr val="1B2C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188720"/>
            <a:ext cx="2468880" cy="1188720"/>
          </a:xfrm>
          <a:prstGeom prst="rect">
            <a:avLst/>
          </a:prstGeom>
          <a:solidFill>
            <a:srgbClr val="00D4A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Salted &amp; hashed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783080"/>
            <a:ext cx="365760" cy="0"/>
          </a:xfrm>
          <a:prstGeom prst="line">
            <a:avLst/>
          </a:prstGeom>
          <a:noFill/>
          <a:ln w="25400">
            <a:solidFill>
              <a:srgbClr val="1B2C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188720"/>
            <a:ext cx="2468880" cy="11887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 — no plain text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7432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Bcrypt?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00400"/>
            <a:ext cx="2697480" cy="822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375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Hashes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unique random salt is added to each password before hashing — making precomputed rainbow table attacks impossible.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200400"/>
            <a:ext cx="2697480" cy="8229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33375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Resistant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7033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Bcrypt is deliberately slow (configurable cost factor) — each guess takes significant compute time for attackers.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320040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3200400"/>
            <a:ext cx="269748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3375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Plaintext Storage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7033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Passwords are never stored in readable form. Even database admins cannot recover original passwords.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566160" y="1188720"/>
            <a:ext cx="2011680" cy="9144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1188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201168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572768"/>
            <a:ext cx="109728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" y="256032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6032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944368"/>
            <a:ext cx="109728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858000" y="118872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0" y="1188720"/>
            <a:ext cx="2011680" cy="7315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280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Rooms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1572768"/>
            <a:ext cx="1280160" cy="0"/>
          </a:xfrm>
          <a:prstGeom prst="line">
            <a:avLst/>
          </a:prstGeom>
          <a:noFill/>
          <a:ln w="12700">
            <a:solidFill>
              <a:srgbClr val="9B59B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858000" y="256032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2560320"/>
            <a:ext cx="2011680" cy="73152"/>
          </a:xfrm>
          <a:prstGeom prst="rect">
            <a:avLst/>
          </a:prstGeom>
          <a:solidFill>
            <a:srgbClr val="E05C1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651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Lists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2944368"/>
            <a:ext cx="1280160" cy="0"/>
          </a:xfrm>
          <a:prstGeom prst="line">
            <a:avLst/>
          </a:prstGeom>
          <a:noFill/>
          <a:ln w="12700">
            <a:solidFill>
              <a:srgbClr val="E05C1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20040" y="3566160"/>
            <a:ext cx="8503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0050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storage survives server restarts   •   Long-term chat history accessible anytime   •   Data recovery after unexpected failures   •   Structured schema ensures data integrity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Database Access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4747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73352"/>
            <a:ext cx="256032" cy="256032"/>
          </a:xfrm>
          <a:prstGeom prst="ellipse">
            <a:avLst/>
          </a:prstGeom>
          <a:solidFill>
            <a:srgbClr val="E05C1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73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673352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threads read &amp; write the database simultaneously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386584"/>
            <a:ext cx="256032" cy="256032"/>
          </a:xfrm>
          <a:prstGeom prst="ellipse">
            <a:avLst/>
          </a:prstGeom>
          <a:solidFill>
            <a:srgbClr val="E05C1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86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386584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Without synchronization: data races, corruption, or crashes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099816"/>
            <a:ext cx="256032" cy="256032"/>
          </a:xfrm>
          <a:prstGeom prst="ellipse">
            <a:avLst/>
          </a:prstGeom>
          <a:solidFill>
            <a:srgbClr val="E05C1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998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3099816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SQLite itself is not fully thread-safe in WAL mode by default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114800" cy="3474720"/>
          </a:xfrm>
          <a:prstGeom prst="rect">
            <a:avLst/>
          </a:prstGeom>
          <a:solidFill>
            <a:srgbClr val="F0FFF8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1673352"/>
            <a:ext cx="256032" cy="25603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673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85232" y="1673352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Mutual exclusion locks (mutexes) guard all DB write operations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386584"/>
            <a:ext cx="256032" cy="25603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386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2386584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 locks allow concurrent reads — boosting throughput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099816"/>
            <a:ext cx="256032" cy="25603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0998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85232" y="3099816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Connection pooling prevents resource exhaustion under load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Zero race conditions — full data consistency across all concurrent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122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Features &amp; Interface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8346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2412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CustomTkinter — Dark Mode + Glassmorphism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697480" cy="1371600"/>
          </a:xfrm>
          <a:prstGeom prst="rect">
            <a:avLst/>
          </a:prstGeom>
          <a:solidFill>
            <a:srgbClr val="1B2C45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2880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73736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Rooms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8720" y="210312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themed rooms for group conversations.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600200"/>
            <a:ext cx="2697480" cy="1371600"/>
          </a:xfrm>
          <a:prstGeom prst="rect">
            <a:avLst/>
          </a:prstGeom>
          <a:solidFill>
            <a:srgbClr val="1B2C45"/>
          </a:solidFill>
          <a:ln w="9525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82880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82880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173736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069080" y="210312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One-on-one private DMs between users.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80760" y="1600200"/>
            <a:ext cx="2697480" cy="1371600"/>
          </a:xfrm>
          <a:prstGeom prst="rect">
            <a:avLst/>
          </a:prstGeom>
          <a:solidFill>
            <a:srgbClr val="1B2C45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63640" y="18288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173736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Sharing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949440" y="210312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 images seamlessly within any chat.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20040" y="3200400"/>
            <a:ext cx="2697480" cy="1371600"/>
          </a:xfrm>
          <a:prstGeom prst="rect">
            <a:avLst/>
          </a:prstGeom>
          <a:solidFill>
            <a:srgbClr val="1B2C45"/>
          </a:solidFill>
          <a:ln w="9525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920" y="3429000"/>
            <a:ext cx="548640" cy="548640"/>
          </a:xfrm>
          <a:prstGeom prst="ellipse">
            <a:avLst/>
          </a:prstGeom>
          <a:solidFill>
            <a:srgbClr val="9B59B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2900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88720" y="333756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188720" y="370332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SHA-256 hashing verifies every transferred file.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3200400"/>
            <a:ext cx="2697480" cy="1371600"/>
          </a:xfrm>
          <a:prstGeom prst="rect">
            <a:avLst/>
          </a:prstGeom>
          <a:solidFill>
            <a:srgbClr val="1B2C45"/>
          </a:solidFill>
          <a:ln w="9525">
            <a:solidFill>
              <a:srgbClr val="E05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383280" y="3429000"/>
            <a:ext cx="548640" cy="548640"/>
          </a:xfrm>
          <a:prstGeom prst="ellipse">
            <a:avLst/>
          </a:prstGeom>
          <a:solidFill>
            <a:srgbClr val="E05C1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429000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069080" y="333756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UI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069080" y="370332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Premium glassmorphism design with dark theme.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80760" y="3200400"/>
            <a:ext cx="2697480" cy="1371600"/>
          </a:xfrm>
          <a:prstGeom prst="rect">
            <a:avLst/>
          </a:prstGeom>
          <a:solidFill>
            <a:srgbClr val="1B2C45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263640" y="342900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429000"/>
            <a:ext cx="548640" cy="5486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949440" y="333756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Settings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949440" y="370332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Customizable profile, status, and preferences.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91440" cy="17190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691640"/>
            <a:ext cx="621792" cy="62179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91640"/>
            <a:ext cx="621792" cy="6217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32588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417320" y="1709928"/>
            <a:ext cx="29443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graphs display server stats: connections, message throughput, memory usage, and response times.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143000"/>
            <a:ext cx="416052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143000"/>
            <a:ext cx="91440" cy="1719072"/>
          </a:xfrm>
          <a:prstGeom prst="rect">
            <a:avLst/>
          </a:prstGeom>
          <a:solidFill>
            <a:srgbClr val="E05C1C"/>
          </a:solidFill>
          <a:ln/>
        </p:spPr>
      </p:sp>
      <p:sp>
        <p:nvSpPr>
          <p:cNvPr id="13" name="Shape 10"/>
          <p:cNvSpPr/>
          <p:nvPr/>
        </p:nvSpPr>
        <p:spPr>
          <a:xfrm>
            <a:off x="5102352" y="1691640"/>
            <a:ext cx="621792" cy="621792"/>
          </a:xfrm>
          <a:prstGeom prst="ellipse">
            <a:avLst/>
          </a:prstGeom>
          <a:solidFill>
            <a:srgbClr val="E05C1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691640"/>
            <a:ext cx="621792" cy="6217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52160" y="132588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852160" y="1709928"/>
            <a:ext cx="29443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Administrators can kick or permanently ban users in real-time with a single action.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3063240"/>
            <a:ext cx="416052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063240"/>
            <a:ext cx="91440" cy="1719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5"/>
          <p:cNvSpPr/>
          <p:nvPr/>
        </p:nvSpPr>
        <p:spPr>
          <a:xfrm>
            <a:off x="667512" y="3611880"/>
            <a:ext cx="621792" cy="62179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611880"/>
            <a:ext cx="621792" cy="6217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24612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Statistics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417320" y="3630168"/>
            <a:ext cx="29443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Dynamic visual dashboards show active sessions, room activity, and system health at a glance.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3063240"/>
            <a:ext cx="416052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3063240"/>
            <a:ext cx="91440" cy="171907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5" name="Shape 20"/>
          <p:cNvSpPr/>
          <p:nvPr/>
        </p:nvSpPr>
        <p:spPr>
          <a:xfrm>
            <a:off x="5102352" y="3611880"/>
            <a:ext cx="621792" cy="621792"/>
          </a:xfrm>
          <a:prstGeom prst="ellipse">
            <a:avLst/>
          </a:prstGeom>
          <a:solidFill>
            <a:srgbClr val="9B59B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611880"/>
            <a:ext cx="621792" cy="6217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52160" y="324612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Announcements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852160" y="3630168"/>
            <a:ext cx="29443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Send system-wide messages to all connected users instantly — ideal for maintenance alerts.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Design Principles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33856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Flexibility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" y="1755648"/>
            <a:ext cx="201168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3736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Runs on LAN for local networks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2624328"/>
            <a:ext cx="201168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Deployable on WAN / internet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3493008"/>
            <a:ext cx="201168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 configurable for any firewall setup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133856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64992" y="1755648"/>
            <a:ext cx="201168" cy="2011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173736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Auth, messaging, and DB layers are independent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64992" y="2624328"/>
            <a:ext cx="201168" cy="2011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60604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Easy to swap components without full rewrites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64992" y="3493008"/>
            <a:ext cx="201168" cy="2011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Clean interfaces between all modules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09728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109728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133856"/>
            <a:ext cx="2468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45352" y="1755648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173736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UI layer is fully decoupled from server logic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45352" y="2624328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260604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thread handles exactly one responsibility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45352" y="3493008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C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Improves testability and maintainability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754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designed for extension: add features without touching existing components.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3200400" cy="3200400"/>
          </a:xfrm>
          <a:prstGeom prst="ellipse">
            <a:avLst/>
          </a:prstGeom>
          <a:solidFill>
            <a:srgbClr val="0E2A3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0E2A3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57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DistroChat Delivers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54864" cy="960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55648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DistroChat is more than just a chat app — it's a secure, scalable,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fully distributed communication platform that combines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E8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professional-grade encryption with a premium user experience.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971800"/>
            <a:ext cx="1554480" cy="8686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9718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0" y="2971800"/>
            <a:ext cx="1554480" cy="868680"/>
          </a:xfrm>
          <a:prstGeom prst="rect">
            <a:avLst/>
          </a:prstGeom>
          <a:solidFill>
            <a:srgbClr val="00D4A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29718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2971800"/>
            <a:ext cx="1554480" cy="8686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29718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0" y="2971800"/>
            <a:ext cx="1554480" cy="868680"/>
          </a:xfrm>
          <a:prstGeom prst="rect">
            <a:avLst/>
          </a:prstGeom>
          <a:solidFill>
            <a:srgbClr val="9B59B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29718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2971800"/>
            <a:ext cx="1554480" cy="868680"/>
          </a:xfrm>
          <a:prstGeom prst="rect">
            <a:avLst/>
          </a:prstGeom>
          <a:solidFill>
            <a:srgbClr val="E05C1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29718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069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 — Questions Welcome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Project  • 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DistroChat — A Distributed Multi-Client Chat System</dc:title>
  <dc:subject>PptxGenJS Presentation</dc:subject>
  <dc:creator>DistroChat Team</dc:creator>
  <cp:lastModifiedBy>DistroChat Team</cp:lastModifiedBy>
  <cp:revision>1</cp:revision>
  <dcterms:created xsi:type="dcterms:W3CDTF">2026-05-04T20:46:34Z</dcterms:created>
  <dcterms:modified xsi:type="dcterms:W3CDTF">2026-05-04T20:46:34Z</dcterms:modified>
</cp:coreProperties>
</file>